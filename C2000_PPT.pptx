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3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25" d="100"/>
          <a:sy n="125" d="100"/>
        </p:scale>
        <p:origin x="-226" y="14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06CEA-4CE9-40FD-8F79-90F8296E54D8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CD262-E65C-48E0-87DD-C4FA06DD31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3555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06CEA-4CE9-40FD-8F79-90F8296E54D8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CD262-E65C-48E0-87DD-C4FA06DD31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2977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06CEA-4CE9-40FD-8F79-90F8296E54D8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CD262-E65C-48E0-87DD-C4FA06DD31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236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06CEA-4CE9-40FD-8F79-90F8296E54D8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CD262-E65C-48E0-87DD-C4FA06DD31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25208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06CEA-4CE9-40FD-8F79-90F8296E54D8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CD262-E65C-48E0-87DD-C4FA06DD31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6417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06CEA-4CE9-40FD-8F79-90F8296E54D8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CD262-E65C-48E0-87DD-C4FA06DD31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365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06CEA-4CE9-40FD-8F79-90F8296E54D8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CD262-E65C-48E0-87DD-C4FA06DD31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3793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06CEA-4CE9-40FD-8F79-90F8296E54D8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CD262-E65C-48E0-87DD-C4FA06DD31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3304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06CEA-4CE9-40FD-8F79-90F8296E54D8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CD262-E65C-48E0-87DD-C4FA06DD31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9273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06CEA-4CE9-40FD-8F79-90F8296E54D8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CD262-E65C-48E0-87DD-C4FA06DD31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3124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06CEA-4CE9-40FD-8F79-90F8296E54D8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CD262-E65C-48E0-87DD-C4FA06DD31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3389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706CEA-4CE9-40FD-8F79-90F8296E54D8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0CD262-E65C-48E0-87DD-C4FA06DD31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6736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692696"/>
            <a:ext cx="7772400" cy="1470025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ABINESH S(RA2311004010089)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5656" y="2348880"/>
            <a:ext cx="6400800" cy="1752600"/>
          </a:xfrm>
        </p:spPr>
        <p:txBody>
          <a:bodyPr/>
          <a:lstStyle/>
          <a:p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CEM TASK -1 </a:t>
            </a:r>
          </a:p>
          <a:p>
            <a:r>
              <a:rPr lang="en-IN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LAUNCHXL-F28379D Development Kit</a:t>
            </a:r>
            <a:endParaRPr lang="en-IN" dirty="0">
              <a:solidFill>
                <a:schemeClr val="tx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7" name="Picture 3" descr="C:\Users\USER\Downloads\launchxl2-rm57l_launchxl2-rm57l_angled_02_sm-480x480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3267" y="3514069"/>
            <a:ext cx="3873500" cy="288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69003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Introduction to LAUNCHXL-F28379D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LAUNCHXL-F28379D is a development kit developed by Texas Instruments (TI).</a:t>
            </a:r>
          </a:p>
          <a:p>
            <a:r>
              <a:rPr lang="en-US" dirty="0" smtClean="0"/>
              <a:t>It is built around the TMS320F28379D real-time control microcontroller.</a:t>
            </a:r>
          </a:p>
          <a:p>
            <a:r>
              <a:rPr lang="en-US" dirty="0" smtClean="0"/>
              <a:t>The board provides a platform to program, test, debug, and evaluate the MCU.</a:t>
            </a:r>
          </a:p>
          <a:p>
            <a:r>
              <a:rPr lang="en-US" dirty="0" smtClean="0"/>
              <a:t>It includes onboard USB, debugging, power, headers, and peripheral interfaces.</a:t>
            </a:r>
          </a:p>
          <a:p>
            <a:r>
              <a:rPr lang="en-US" dirty="0" smtClean="0"/>
              <a:t>The board provides access to MCU functions such as GPIO, PWM, ADC, CAN, and encoder interfaces.</a:t>
            </a:r>
          </a:p>
          <a:p>
            <a:r>
              <a:rPr lang="en-US" dirty="0" smtClean="0"/>
              <a:t>It is designed for applications requiring high-speed and real-time control.</a:t>
            </a:r>
          </a:p>
          <a:p>
            <a:r>
              <a:rPr lang="en-US" dirty="0" smtClean="0"/>
              <a:t>The </a:t>
            </a:r>
            <a:r>
              <a:rPr lang="en-US" dirty="0" err="1" smtClean="0"/>
              <a:t>LaunchPad</a:t>
            </a:r>
            <a:r>
              <a:rPr lang="en-US" dirty="0" smtClean="0"/>
              <a:t> helps developers evaluate the F28379D before developing a custom hardware design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1142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Board Overview &amp; Main Components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The LAUNCHXL-F28379D combines the F28379D MCU with supporting hardware on a single development board.</a:t>
            </a:r>
          </a:p>
          <a:p>
            <a:r>
              <a:rPr lang="en-US" dirty="0" smtClean="0"/>
              <a:t>The TMS320F28379D is the main processing device responsible for executing the user program.</a:t>
            </a:r>
          </a:p>
          <a:p>
            <a:r>
              <a:rPr lang="en-US" dirty="0" smtClean="0"/>
              <a:t>An onboard XDS100v2 debug probe provides programming and debugging support.</a:t>
            </a:r>
          </a:p>
          <a:p>
            <a:r>
              <a:rPr lang="en-US" dirty="0" smtClean="0"/>
              <a:t>The USB interface connects the </a:t>
            </a:r>
            <a:r>
              <a:rPr lang="en-US" dirty="0" err="1" smtClean="0"/>
              <a:t>LaunchPad</a:t>
            </a:r>
            <a:r>
              <a:rPr lang="en-US" dirty="0" smtClean="0"/>
              <a:t> to a development computer.</a:t>
            </a:r>
          </a:p>
          <a:p>
            <a:r>
              <a:rPr lang="en-US" dirty="0" smtClean="0"/>
              <a:t>Four 20-pin </a:t>
            </a:r>
            <a:r>
              <a:rPr lang="en-US" dirty="0" err="1" smtClean="0"/>
              <a:t>BoosterPack</a:t>
            </a:r>
            <a:r>
              <a:rPr lang="en-US" dirty="0" smtClean="0"/>
              <a:t> headers provide access to MCU signals and external connections.</a:t>
            </a:r>
          </a:p>
          <a:p>
            <a:r>
              <a:rPr lang="en-US" dirty="0" smtClean="0"/>
              <a:t>The board includes LEDs, push buttons, CAN and encoder interfaces for development and testing.</a:t>
            </a:r>
          </a:p>
          <a:p>
            <a:r>
              <a:rPr lang="en-US" dirty="0" smtClean="0"/>
              <a:t>Power circuitry, jumpers, reset and boot controls support the operation and configuration of the board.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627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TMS320F28379D Microcontroller</a:t>
            </a:r>
            <a:endParaRPr lang="en-IN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smtClean="0"/>
              <a:t>The </a:t>
            </a:r>
            <a:r>
              <a:rPr lang="en-US" b="1" dirty="0" smtClean="0"/>
              <a:t>TMS320F28379D</a:t>
            </a:r>
            <a:r>
              <a:rPr lang="en-US" dirty="0" smtClean="0"/>
              <a:t> is the main microcontroller mounted on the LAUNCHXL-F28379D board. </a:t>
            </a:r>
          </a:p>
          <a:p>
            <a:r>
              <a:rPr lang="en-US" dirty="0" smtClean="0"/>
              <a:t>It belongs to the </a:t>
            </a:r>
            <a:r>
              <a:rPr lang="en-US" b="1" dirty="0" smtClean="0"/>
              <a:t>TI C2000 family</a:t>
            </a:r>
            <a:r>
              <a:rPr lang="en-US" dirty="0" smtClean="0"/>
              <a:t>, designed for real-time control applications. </a:t>
            </a:r>
          </a:p>
          <a:p>
            <a:r>
              <a:rPr lang="en-US" dirty="0" smtClean="0"/>
              <a:t>The MCU contains </a:t>
            </a:r>
            <a:r>
              <a:rPr lang="en-US" b="1" dirty="0" smtClean="0"/>
              <a:t>dual C28x CPUs</a:t>
            </a:r>
            <a:r>
              <a:rPr lang="en-US" dirty="0" smtClean="0"/>
              <a:t> for high-performance processing. </a:t>
            </a:r>
          </a:p>
          <a:p>
            <a:r>
              <a:rPr lang="en-US" dirty="0" smtClean="0"/>
              <a:t>It includes </a:t>
            </a:r>
            <a:r>
              <a:rPr lang="en-US" b="1" dirty="0" smtClean="0"/>
              <a:t>Flash and RAM</a:t>
            </a:r>
            <a:r>
              <a:rPr lang="en-US" dirty="0" smtClean="0"/>
              <a:t> for storing program code and temporary data. </a:t>
            </a:r>
          </a:p>
          <a:p>
            <a:r>
              <a:rPr lang="en-US" dirty="0" smtClean="0"/>
              <a:t>The MCU provides multiple peripherals for connecting and controlling external hardware. </a:t>
            </a:r>
          </a:p>
          <a:p>
            <a:r>
              <a:rPr lang="en-US" dirty="0" smtClean="0"/>
              <a:t>Important peripherals include </a:t>
            </a:r>
            <a:r>
              <a:rPr lang="en-US" b="1" dirty="0" smtClean="0"/>
              <a:t>PWM, ADC, GPIO, CAN, </a:t>
            </a:r>
            <a:r>
              <a:rPr lang="en-US" b="1" dirty="0" err="1" smtClean="0"/>
              <a:t>ePWM</a:t>
            </a:r>
            <a:r>
              <a:rPr lang="en-US" b="1" dirty="0" smtClean="0"/>
              <a:t>, </a:t>
            </a:r>
            <a:r>
              <a:rPr lang="en-US" b="1" dirty="0" err="1" smtClean="0"/>
              <a:t>eQEP</a:t>
            </a:r>
            <a:r>
              <a:rPr lang="en-US" b="1" dirty="0" smtClean="0"/>
              <a:t>, and communication interfaces</a:t>
            </a:r>
            <a:r>
              <a:rPr lang="en-US" dirty="0" smtClean="0"/>
              <a:t>. </a:t>
            </a:r>
          </a:p>
          <a:p>
            <a:r>
              <a:rPr lang="en-US" dirty="0" smtClean="0"/>
              <a:t>These integrated resources allow the F28379D to process inputs, perform calculations, and generate outputs. </a:t>
            </a:r>
          </a:p>
          <a:p>
            <a:r>
              <a:rPr lang="en-US" dirty="0" smtClean="0"/>
              <a:t>The </a:t>
            </a:r>
            <a:r>
              <a:rPr lang="en-US" dirty="0" err="1" smtClean="0"/>
              <a:t>LaunchPad</a:t>
            </a:r>
            <a:r>
              <a:rPr lang="en-US" dirty="0" smtClean="0"/>
              <a:t> provides convenient access to these MCU resources through its headers and onboard interfaces.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45787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USB, XDS100v2 &amp; JTAG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The board uses a </a:t>
            </a:r>
            <a:r>
              <a:rPr lang="en-US" b="1" dirty="0" smtClean="0"/>
              <a:t>Micro-USB connection</a:t>
            </a:r>
            <a:r>
              <a:rPr lang="en-US" dirty="0" smtClean="0"/>
              <a:t> to communicate with the development computer. </a:t>
            </a:r>
          </a:p>
          <a:p>
            <a:r>
              <a:rPr lang="en-US" dirty="0" smtClean="0"/>
              <a:t>The </a:t>
            </a:r>
            <a:r>
              <a:rPr lang="en-US" dirty="0" err="1" smtClean="0"/>
              <a:t>LaunchPad</a:t>
            </a:r>
            <a:r>
              <a:rPr lang="en-US" dirty="0" smtClean="0"/>
              <a:t> has an onboard </a:t>
            </a:r>
            <a:r>
              <a:rPr lang="en-US" b="1" dirty="0" smtClean="0"/>
              <a:t>XDS100v2 debug probe</a:t>
            </a:r>
            <a:r>
              <a:rPr lang="en-US" dirty="0" smtClean="0"/>
              <a:t>, so a separate programmer is not required. </a:t>
            </a:r>
          </a:p>
          <a:p>
            <a:r>
              <a:rPr lang="en-US" dirty="0" smtClean="0"/>
              <a:t>The XDS100v2 connects the computer to the F28379D through the </a:t>
            </a:r>
            <a:r>
              <a:rPr lang="en-US" b="1" dirty="0" smtClean="0"/>
              <a:t>JTAG interface</a:t>
            </a:r>
            <a:r>
              <a:rPr lang="en-US" dirty="0" smtClean="0"/>
              <a:t>. </a:t>
            </a:r>
          </a:p>
          <a:p>
            <a:r>
              <a:rPr lang="en-US" dirty="0" smtClean="0"/>
              <a:t>JTAG is used to </a:t>
            </a:r>
            <a:r>
              <a:rPr lang="en-US" b="1" dirty="0" smtClean="0"/>
              <a:t>program the MCU and debug the running application</a:t>
            </a:r>
            <a:r>
              <a:rPr lang="en-US" dirty="0" smtClean="0"/>
              <a:t>. </a:t>
            </a:r>
          </a:p>
          <a:p>
            <a:r>
              <a:rPr lang="en-US" dirty="0" smtClean="0"/>
              <a:t>Through the debugger, we can </a:t>
            </a:r>
            <a:r>
              <a:rPr lang="en-US" b="1" dirty="0" smtClean="0"/>
              <a:t>run, stop, step through code, and inspect variables</a:t>
            </a:r>
            <a:r>
              <a:rPr lang="en-US" dirty="0" smtClean="0"/>
              <a:t>. </a:t>
            </a:r>
          </a:p>
          <a:p>
            <a:r>
              <a:rPr lang="en-US" dirty="0" smtClean="0"/>
              <a:t>The USB connection can also provide </a:t>
            </a:r>
            <a:r>
              <a:rPr lang="en-US" b="1" dirty="0" smtClean="0"/>
              <a:t>power to the </a:t>
            </a:r>
            <a:r>
              <a:rPr lang="en-US" b="1" dirty="0" err="1" smtClean="0"/>
              <a:t>LaunchPad</a:t>
            </a:r>
            <a:r>
              <a:rPr lang="en-US" b="1" dirty="0" smtClean="0"/>
              <a:t> during development</a:t>
            </a:r>
            <a:r>
              <a:rPr lang="en-US" dirty="0" smtClean="0"/>
              <a:t>. </a:t>
            </a:r>
          </a:p>
          <a:p>
            <a:r>
              <a:rPr lang="en-US" dirty="0" smtClean="0"/>
              <a:t>Overall path: </a:t>
            </a:r>
            <a:r>
              <a:rPr lang="en-US" b="1" dirty="0" smtClean="0"/>
              <a:t>PC → USB → XDS100v2 → JTAG → F28379D</a:t>
            </a:r>
            <a:r>
              <a:rPr lang="en-US" dirty="0" smtClean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54343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Power Supply &amp; Connections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 err="1" smtClean="0"/>
              <a:t>LaunchPad</a:t>
            </a:r>
            <a:r>
              <a:rPr lang="en-US" dirty="0" smtClean="0"/>
              <a:t> includes onboard </a:t>
            </a:r>
            <a:r>
              <a:rPr lang="en-US" b="1" dirty="0" smtClean="0"/>
              <a:t>power-management circuitry</a:t>
            </a:r>
            <a:r>
              <a:rPr lang="en-US" dirty="0" smtClean="0"/>
              <a:t> to provide the required supply rails to the board. </a:t>
            </a:r>
          </a:p>
          <a:p>
            <a:r>
              <a:rPr lang="en-US" dirty="0" smtClean="0"/>
              <a:t>The </a:t>
            </a:r>
            <a:r>
              <a:rPr lang="en-US" b="1" dirty="0" smtClean="0"/>
              <a:t>USB connection</a:t>
            </a:r>
            <a:r>
              <a:rPr lang="en-US" dirty="0" smtClean="0"/>
              <a:t> can power the board during normal development and programming. </a:t>
            </a:r>
          </a:p>
          <a:p>
            <a:r>
              <a:rPr lang="en-US" dirty="0" smtClean="0"/>
              <a:t>The board provides </a:t>
            </a:r>
            <a:r>
              <a:rPr lang="en-US" b="1" dirty="0" smtClean="0"/>
              <a:t>5 V and 3.3 V supply connections</a:t>
            </a:r>
            <a:r>
              <a:rPr lang="en-US" dirty="0" smtClean="0"/>
              <a:t> through its headers for external circuits. </a:t>
            </a:r>
          </a:p>
          <a:p>
            <a:r>
              <a:rPr lang="en-US" dirty="0" smtClean="0"/>
              <a:t>The </a:t>
            </a:r>
            <a:r>
              <a:rPr lang="en-US" b="1" dirty="0" smtClean="0"/>
              <a:t>F28379D MCU operates using its required low-voltage supply rails</a:t>
            </a:r>
            <a:r>
              <a:rPr lang="en-US" dirty="0" smtClean="0"/>
              <a:t> provided by the board. </a:t>
            </a:r>
          </a:p>
          <a:p>
            <a:r>
              <a:rPr lang="en-US" dirty="0" smtClean="0"/>
              <a:t>Power connections are available through the </a:t>
            </a:r>
            <a:r>
              <a:rPr lang="en-US" b="1" dirty="0" smtClean="0"/>
              <a:t>20-pin headers and dedicated board connectors</a:t>
            </a:r>
            <a:r>
              <a:rPr lang="en-US" dirty="0" smtClean="0"/>
              <a:t>. </a:t>
            </a:r>
          </a:p>
          <a:p>
            <a:r>
              <a:rPr lang="en-US" dirty="0" smtClean="0"/>
              <a:t>External peripherals can use the available board supplies, provided their voltage and current requirements are suitable. </a:t>
            </a:r>
          </a:p>
          <a:p>
            <a:r>
              <a:rPr lang="en-US" b="1" dirty="0" smtClean="0"/>
              <a:t>Motor or other high-power loads should not be powered directly from the </a:t>
            </a:r>
            <a:r>
              <a:rPr lang="en-US" b="1" dirty="0" err="1" smtClean="0"/>
              <a:t>LaunchPad</a:t>
            </a:r>
            <a:r>
              <a:rPr lang="en-US" dirty="0" smtClean="0"/>
              <a:t>; they require a separate power stage.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8057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Pin Configuration &amp; 20-Pin Headers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 err="1" smtClean="0"/>
              <a:t>LaunchPad</a:t>
            </a:r>
            <a:r>
              <a:rPr lang="en-US" dirty="0" smtClean="0"/>
              <a:t> provides </a:t>
            </a:r>
            <a:r>
              <a:rPr lang="en-US" b="1" dirty="0" smtClean="0"/>
              <a:t>four 20-pin headers</a:t>
            </a:r>
            <a:r>
              <a:rPr lang="en-US" dirty="0" smtClean="0"/>
              <a:t>: </a:t>
            </a:r>
            <a:r>
              <a:rPr lang="en-US" b="1" dirty="0" smtClean="0"/>
              <a:t>J1, J2, J3, and J4</a:t>
            </a:r>
            <a:r>
              <a:rPr lang="en-US" dirty="0" smtClean="0"/>
              <a:t>. </a:t>
            </a:r>
          </a:p>
          <a:p>
            <a:r>
              <a:rPr lang="en-US" dirty="0" smtClean="0"/>
              <a:t>These headers expose the </a:t>
            </a:r>
            <a:r>
              <a:rPr lang="en-US" b="1" dirty="0" smtClean="0"/>
              <a:t>GPIO pins and peripheral functions</a:t>
            </a:r>
            <a:r>
              <a:rPr lang="en-US" dirty="0" smtClean="0"/>
              <a:t> of the F28379D to external circuits. </a:t>
            </a:r>
          </a:p>
          <a:p>
            <a:r>
              <a:rPr lang="en-US" dirty="0" smtClean="0"/>
              <a:t>A single MCU pin can support </a:t>
            </a:r>
            <a:r>
              <a:rPr lang="en-US" b="1" dirty="0" smtClean="0"/>
              <a:t>multiple functions</a:t>
            </a:r>
            <a:r>
              <a:rPr lang="en-US" dirty="0" smtClean="0"/>
              <a:t> through the device's </a:t>
            </a:r>
            <a:r>
              <a:rPr lang="en-US" b="1" dirty="0" smtClean="0"/>
              <a:t>Pin Multiplexing (</a:t>
            </a:r>
            <a:r>
              <a:rPr lang="en-US" b="1" dirty="0" err="1" smtClean="0"/>
              <a:t>PinMux</a:t>
            </a:r>
            <a:r>
              <a:rPr lang="en-US" b="1" dirty="0" smtClean="0"/>
              <a:t>)</a:t>
            </a:r>
            <a:r>
              <a:rPr lang="en-US" dirty="0" smtClean="0"/>
              <a:t>. </a:t>
            </a:r>
          </a:p>
          <a:p>
            <a:r>
              <a:rPr lang="en-US" dirty="0" smtClean="0"/>
              <a:t>For example, </a:t>
            </a:r>
            <a:r>
              <a:rPr lang="en-US" b="1" dirty="0" smtClean="0"/>
              <a:t>J4 Pin 40</a:t>
            </a:r>
            <a:r>
              <a:rPr lang="en-US" dirty="0" smtClean="0"/>
              <a:t> can provide </a:t>
            </a:r>
            <a:r>
              <a:rPr lang="en-US" b="1" dirty="0" smtClean="0"/>
              <a:t>GPIO0 / ePWM1A</a:t>
            </a:r>
            <a:r>
              <a:rPr lang="en-US" dirty="0" smtClean="0"/>
              <a:t>, depending on the selected configuration. </a:t>
            </a:r>
          </a:p>
          <a:p>
            <a:r>
              <a:rPr lang="en-US" b="1" dirty="0" smtClean="0"/>
              <a:t>J3</a:t>
            </a:r>
            <a:r>
              <a:rPr lang="en-US" dirty="0" smtClean="0"/>
              <a:t> provides access to several </a:t>
            </a:r>
            <a:r>
              <a:rPr lang="en-US" b="1" dirty="0" smtClean="0"/>
              <a:t>ADC input channels</a:t>
            </a:r>
            <a:r>
              <a:rPr lang="en-US" dirty="0" smtClean="0"/>
              <a:t> for connecting analog signals. </a:t>
            </a:r>
          </a:p>
          <a:p>
            <a:r>
              <a:rPr lang="en-US" dirty="0" smtClean="0"/>
              <a:t>The headers also provide </a:t>
            </a:r>
            <a:r>
              <a:rPr lang="en-US" b="1" dirty="0" smtClean="0"/>
              <a:t>power and ground connections</a:t>
            </a:r>
            <a:r>
              <a:rPr lang="en-US" dirty="0" smtClean="0"/>
              <a:t> for external circuits. </a:t>
            </a:r>
          </a:p>
          <a:p>
            <a:r>
              <a:rPr lang="en-US" dirty="0" smtClean="0"/>
              <a:t>Pin numbers on the </a:t>
            </a:r>
            <a:r>
              <a:rPr lang="en-US" dirty="0" err="1" smtClean="0"/>
              <a:t>LaunchPad</a:t>
            </a:r>
            <a:r>
              <a:rPr lang="en-US" dirty="0" smtClean="0"/>
              <a:t> headers are </a:t>
            </a:r>
            <a:r>
              <a:rPr lang="en-US" b="1" dirty="0" smtClean="0"/>
              <a:t>not the same as the physical MCU package pin numbers</a:t>
            </a:r>
            <a:r>
              <a:rPr lang="en-US" dirty="0" smtClean="0"/>
              <a:t>. </a:t>
            </a:r>
          </a:p>
          <a:p>
            <a:r>
              <a:rPr lang="en-US" dirty="0" smtClean="0"/>
              <a:t>The exact pin functions are defined in the </a:t>
            </a:r>
            <a:r>
              <a:rPr lang="en-US" b="1" dirty="0" smtClean="0"/>
              <a:t>TI LAUNCHXL-F28379D User's Guide and F28379D datasheet</a:t>
            </a:r>
            <a:r>
              <a:rPr lang="en-US" dirty="0" smtClean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13133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PIN CONFIGURATION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2051" name="Picture 3" descr="C:\Users\USER\Downloads\PIN CONFIG C2000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2276872"/>
            <a:ext cx="8954584" cy="3143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56928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CAN, Encoder, LEDs &amp; Push Buttons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endParaRPr lang="en-US" dirty="0" smtClean="0"/>
          </a:p>
          <a:p>
            <a:r>
              <a:rPr lang="en-US" dirty="0" smtClean="0"/>
              <a:t>The board provides a </a:t>
            </a:r>
            <a:r>
              <a:rPr lang="en-US" b="1" dirty="0" smtClean="0"/>
              <a:t>CAN interface</a:t>
            </a:r>
            <a:r>
              <a:rPr lang="en-US" dirty="0" smtClean="0"/>
              <a:t> for communication between the F28379D and other electronic control units. </a:t>
            </a:r>
          </a:p>
          <a:p>
            <a:r>
              <a:rPr lang="en-US" dirty="0" smtClean="0"/>
              <a:t>The </a:t>
            </a:r>
            <a:r>
              <a:rPr lang="en-US" b="1" dirty="0" smtClean="0"/>
              <a:t>CAN peripheral</a:t>
            </a:r>
            <a:r>
              <a:rPr lang="en-US" dirty="0" smtClean="0"/>
              <a:t> inside the MCU communicates with an external CAN transceiver to connect to the CAN bus. </a:t>
            </a:r>
          </a:p>
          <a:p>
            <a:r>
              <a:rPr lang="en-US" dirty="0" smtClean="0"/>
              <a:t>The board provides an </a:t>
            </a:r>
            <a:r>
              <a:rPr lang="en-US" b="1" dirty="0" smtClean="0"/>
              <a:t>encoder/QEP interface</a:t>
            </a:r>
            <a:r>
              <a:rPr lang="en-US" dirty="0" smtClean="0"/>
              <a:t> for receiving position and speed-related feedback from an encoder. </a:t>
            </a:r>
          </a:p>
          <a:p>
            <a:r>
              <a:rPr lang="en-US" b="1" dirty="0" smtClean="0"/>
              <a:t>Onboard LEDs</a:t>
            </a:r>
            <a:r>
              <a:rPr lang="en-US" dirty="0" smtClean="0"/>
              <a:t> provide simple visual feedback for program status and debugging. </a:t>
            </a:r>
          </a:p>
          <a:p>
            <a:r>
              <a:rPr lang="en-US" b="1" dirty="0" smtClean="0"/>
              <a:t>Push buttons</a:t>
            </a:r>
            <a:r>
              <a:rPr lang="en-US" dirty="0" smtClean="0"/>
              <a:t> can be configured as user inputs through the MCU's GPIO. </a:t>
            </a:r>
          </a:p>
          <a:p>
            <a:r>
              <a:rPr lang="en-US" dirty="0" smtClean="0"/>
              <a:t>These interfaces allow developers to </a:t>
            </a:r>
            <a:r>
              <a:rPr lang="en-US" b="1" dirty="0" smtClean="0"/>
              <a:t>test communication, feedback signals, and basic control functions</a:t>
            </a:r>
            <a:r>
              <a:rPr lang="en-US" dirty="0" smtClean="0"/>
              <a:t> directly on the </a:t>
            </a:r>
            <a:r>
              <a:rPr lang="en-US" dirty="0" err="1" smtClean="0"/>
              <a:t>LaunchPad</a:t>
            </a:r>
            <a:r>
              <a:rPr lang="en-US" dirty="0" smtClean="0"/>
              <a:t>. </a:t>
            </a:r>
          </a:p>
          <a:p>
            <a:r>
              <a:rPr lang="en-US" dirty="0" smtClean="0"/>
              <a:t>They are especially useful when developing and testing </a:t>
            </a:r>
            <a:r>
              <a:rPr lang="en-US" b="1" dirty="0" smtClean="0"/>
              <a:t>embedded control applications</a:t>
            </a:r>
            <a:r>
              <a:rPr lang="en-US" dirty="0" smtClean="0"/>
              <a:t> before moving to custom hardware.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03357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Board Architecture &amp; Applications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endParaRPr lang="en-US" dirty="0" smtClean="0"/>
          </a:p>
          <a:p>
            <a:r>
              <a:rPr lang="en-US" smtClean="0"/>
              <a:t>The </a:t>
            </a:r>
            <a:r>
              <a:rPr lang="en-US" b="1" dirty="0" smtClean="0"/>
              <a:t>F28379D MCU</a:t>
            </a:r>
            <a:r>
              <a:rPr lang="en-US" dirty="0" smtClean="0"/>
              <a:t> acts as the central processing unit of the </a:t>
            </a:r>
            <a:r>
              <a:rPr lang="en-US" dirty="0" err="1" smtClean="0"/>
              <a:t>LaunchPad</a:t>
            </a:r>
            <a:r>
              <a:rPr lang="en-US" dirty="0" smtClean="0"/>
              <a:t>. </a:t>
            </a:r>
          </a:p>
          <a:p>
            <a:r>
              <a:rPr lang="en-US" dirty="0" smtClean="0"/>
              <a:t>The </a:t>
            </a:r>
            <a:r>
              <a:rPr lang="en-US" b="1" dirty="0" smtClean="0"/>
              <a:t>USB and XDS100v2</a:t>
            </a:r>
            <a:r>
              <a:rPr lang="en-US" dirty="0" smtClean="0"/>
              <a:t> provide the connection between the development PC and MCU for programming and debugging. </a:t>
            </a:r>
          </a:p>
          <a:p>
            <a:r>
              <a:rPr lang="en-US" b="1" dirty="0" smtClean="0"/>
              <a:t>GPIO, ADC, PWM, CAN, and </a:t>
            </a:r>
            <a:r>
              <a:rPr lang="en-US" b="1" dirty="0" err="1" smtClean="0"/>
              <a:t>eQEP</a:t>
            </a:r>
            <a:r>
              <a:rPr lang="en-US" dirty="0" smtClean="0"/>
              <a:t> provide interfaces for sensing, communication, and control. </a:t>
            </a:r>
          </a:p>
          <a:p>
            <a:r>
              <a:rPr lang="en-US" dirty="0" smtClean="0"/>
              <a:t>The </a:t>
            </a:r>
            <a:r>
              <a:rPr lang="en-US" b="1" dirty="0" smtClean="0"/>
              <a:t>20-pin headers</a:t>
            </a:r>
            <a:r>
              <a:rPr lang="en-US" dirty="0" smtClean="0"/>
              <a:t> make many MCU signals available for external circuits and </a:t>
            </a:r>
            <a:r>
              <a:rPr lang="en-US" dirty="0" err="1" smtClean="0"/>
              <a:t>BoosterPacks</a:t>
            </a:r>
            <a:r>
              <a:rPr lang="en-US" dirty="0" smtClean="0"/>
              <a:t>. </a:t>
            </a:r>
          </a:p>
          <a:p>
            <a:r>
              <a:rPr lang="en-US" b="1" dirty="0" smtClean="0"/>
              <a:t>LEDs and push buttons</a:t>
            </a:r>
            <a:r>
              <a:rPr lang="en-US" dirty="0" smtClean="0"/>
              <a:t> provide simple user interaction and program-status indication. </a:t>
            </a:r>
          </a:p>
          <a:p>
            <a:r>
              <a:rPr lang="en-US" dirty="0" smtClean="0"/>
              <a:t>The board can interface with </a:t>
            </a:r>
            <a:r>
              <a:rPr lang="en-US" b="1" dirty="0" smtClean="0"/>
              <a:t>sensors, encoders, communication networks, and external control circuits</a:t>
            </a:r>
            <a:r>
              <a:rPr lang="en-US" dirty="0" smtClean="0"/>
              <a:t>. </a:t>
            </a:r>
          </a:p>
          <a:p>
            <a:r>
              <a:rPr lang="en-US" dirty="0" smtClean="0"/>
              <a:t>It is suitable for development and evaluation of </a:t>
            </a:r>
            <a:r>
              <a:rPr lang="en-US" b="1" dirty="0" smtClean="0"/>
              <a:t>motor control, power electronics, digital power, and other real-time control applications</a:t>
            </a:r>
            <a:r>
              <a:rPr lang="en-US" dirty="0" smtClean="0"/>
              <a:t>. </a:t>
            </a:r>
          </a:p>
          <a:p>
            <a:r>
              <a:rPr lang="en-US" dirty="0" smtClean="0"/>
              <a:t>The </a:t>
            </a:r>
            <a:r>
              <a:rPr lang="en-US" dirty="0" err="1" smtClean="0"/>
              <a:t>LaunchPad</a:t>
            </a:r>
            <a:r>
              <a:rPr lang="en-US" dirty="0" smtClean="0"/>
              <a:t> can be used as a </a:t>
            </a:r>
            <a:r>
              <a:rPr lang="en-US" b="1" dirty="0" smtClean="0"/>
              <a:t>development platform before designing a custom PCB</a:t>
            </a:r>
            <a:r>
              <a:rPr lang="en-US" dirty="0" smtClean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92158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F28379D Key Specifications &amp; Peripherals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smtClean="0"/>
              <a:t>The </a:t>
            </a:r>
            <a:r>
              <a:rPr lang="en-US" b="1" dirty="0" smtClean="0"/>
              <a:t>TMS320F28379D</a:t>
            </a:r>
            <a:r>
              <a:rPr lang="en-US" dirty="0" smtClean="0"/>
              <a:t> is a high-performance microcontroller from the </a:t>
            </a:r>
            <a:r>
              <a:rPr lang="en-US" b="1" dirty="0" smtClean="0"/>
              <a:t>TI C2000 family</a:t>
            </a:r>
            <a:r>
              <a:rPr lang="en-US" dirty="0" smtClean="0"/>
              <a:t>.</a:t>
            </a:r>
          </a:p>
          <a:p>
            <a:r>
              <a:rPr lang="en-US" dirty="0" smtClean="0"/>
              <a:t>It contains </a:t>
            </a:r>
            <a:r>
              <a:rPr lang="en-US" b="1" dirty="0" smtClean="0"/>
              <a:t>two C28x CPU cores</a:t>
            </a:r>
            <a:r>
              <a:rPr lang="en-US" dirty="0" smtClean="0"/>
              <a:t> with a CPU clock of up to </a:t>
            </a:r>
            <a:r>
              <a:rPr lang="en-US" b="1" dirty="0" smtClean="0"/>
              <a:t>200 </a:t>
            </a:r>
            <a:r>
              <a:rPr lang="en-US" b="1" dirty="0" err="1" smtClean="0"/>
              <a:t>MHz</a:t>
            </a:r>
            <a:r>
              <a:rPr lang="en-US" dirty="0" err="1" smtClean="0"/>
              <a:t>.</a:t>
            </a:r>
            <a:endParaRPr lang="en-US" dirty="0" smtClean="0"/>
          </a:p>
          <a:p>
            <a:r>
              <a:rPr lang="en-US" dirty="0" smtClean="0"/>
              <a:t>The device provides </a:t>
            </a:r>
            <a:r>
              <a:rPr lang="en-US" b="1" dirty="0" smtClean="0"/>
              <a:t>Flash and RAM memory</a:t>
            </a:r>
            <a:r>
              <a:rPr lang="en-US" dirty="0" smtClean="0"/>
              <a:t> for storing programs and executing applications.</a:t>
            </a:r>
          </a:p>
          <a:p>
            <a:r>
              <a:rPr lang="en-US" dirty="0" smtClean="0"/>
              <a:t>It includes </a:t>
            </a:r>
            <a:r>
              <a:rPr lang="en-US" b="1" dirty="0" err="1" smtClean="0"/>
              <a:t>ePWM</a:t>
            </a:r>
            <a:r>
              <a:rPr lang="en-US" b="1" dirty="0" smtClean="0"/>
              <a:t> and ADC modules</a:t>
            </a:r>
            <a:r>
              <a:rPr lang="en-US" dirty="0" smtClean="0"/>
              <a:t> for generating control signals and processing analog inputs.</a:t>
            </a:r>
          </a:p>
          <a:p>
            <a:r>
              <a:rPr lang="en-US" b="1" dirty="0" smtClean="0"/>
              <a:t>CAN, SPI, SCI, and I²C</a:t>
            </a:r>
            <a:r>
              <a:rPr lang="en-US" dirty="0" smtClean="0"/>
              <a:t> provide communication with external devices and controllers.</a:t>
            </a:r>
          </a:p>
          <a:p>
            <a:r>
              <a:rPr lang="en-US" b="1" dirty="0" err="1" smtClean="0"/>
              <a:t>eQEP</a:t>
            </a:r>
            <a:r>
              <a:rPr lang="en-US" b="1" dirty="0" smtClean="0"/>
              <a:t> interfaces</a:t>
            </a:r>
            <a:r>
              <a:rPr lang="en-US" dirty="0" smtClean="0"/>
              <a:t> support feedback from incremental position encoders.</a:t>
            </a:r>
          </a:p>
          <a:p>
            <a:r>
              <a:rPr lang="en-US" b="1" dirty="0" smtClean="0"/>
              <a:t>GPIO pins</a:t>
            </a:r>
            <a:r>
              <a:rPr lang="en-US" dirty="0" smtClean="0"/>
              <a:t> provide configurable digital inputs and outputs for external hardware.</a:t>
            </a:r>
          </a:p>
          <a:p>
            <a:r>
              <a:rPr lang="en-US" dirty="0" smtClean="0"/>
              <a:t>These features make the F28379D suitable for </a:t>
            </a:r>
            <a:r>
              <a:rPr lang="en-US" b="1" dirty="0" smtClean="0"/>
              <a:t>motor control, power electronics, and real-time control applications</a:t>
            </a:r>
            <a:r>
              <a:rPr lang="en-US" dirty="0" smtClean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0916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1060</Words>
  <Application>Microsoft Office PowerPoint</Application>
  <PresentationFormat>On-screen Show (4:3)</PresentationFormat>
  <Paragraphs>84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ABINESH S(RA2311004010089)</vt:lpstr>
      <vt:lpstr>Introduction to LAUNCHXL-F28379D</vt:lpstr>
      <vt:lpstr>Board Overview &amp; Main Components</vt:lpstr>
      <vt:lpstr>TMS320F28379D Microcontroller</vt:lpstr>
      <vt:lpstr>USB, XDS100v2 &amp; JTAG</vt:lpstr>
      <vt:lpstr>Power Supply &amp; Connections</vt:lpstr>
      <vt:lpstr>Pin Configuration &amp; 20-Pin Headers</vt:lpstr>
      <vt:lpstr>PIN CONFIGURATION</vt:lpstr>
      <vt:lpstr>CAN, Encoder, LEDs &amp; Push Buttons</vt:lpstr>
      <vt:lpstr>Board Architecture &amp; Applications</vt:lpstr>
      <vt:lpstr>F28379D Key Specifications &amp; Peripherals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ABINESH S(RA2311004010089)</dc:title>
  <dc:creator>USER</dc:creator>
  <cp:lastModifiedBy>USER</cp:lastModifiedBy>
  <cp:revision>3</cp:revision>
  <dcterms:created xsi:type="dcterms:W3CDTF">2026-09-06T14:52:49Z</dcterms:created>
  <dcterms:modified xsi:type="dcterms:W3CDTF">2026-09-06T15:20:39Z</dcterms:modified>
</cp:coreProperties>
</file>